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1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F2A4A"/>
                </a:solidFill>
                <a:latin typeface="Georgia"/>
              </a:defRPr>
            </a:pPr>
            <a:r>
              <a:rPr sz="1400" b="0" i="0" u="none" strike="noStrike">
                <a:solidFill>
                  <a:srgbClr val="0F2A4A"/>
                </a:solidFill>
                <a:latin typeface="Georgia"/>
              </a:rPr>
              <a:t>Default coverage targets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Default coverage targets</c:v>
                </c:pt>
              </c:strCache>
            </c:strRef>
          </c:tx>
          <c:spPr>
            <a:solidFill>
              <a:srgbClr val="14B8A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0F2A4A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Unit</c:v>
                  </c:pt>
                  <c:pt idx="1">
                    <c:v>Component</c:v>
                  </c:pt>
                  <c:pt idx="2">
                    <c:v>Integration</c:v>
                  </c:pt>
                  <c:pt idx="3">
                    <c:v>E2E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80</c:v>
                </c:pt>
                <c:pt idx="1">
                  <c:v>70</c:v>
                </c:pt>
                <c:pt idx="2">
                  <c:v>60</c:v>
                </c:pt>
                <c:pt idx="3">
                  <c:v>100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200" u="none">
                  <a:solidFill>
                    <a:srgbClr val="0F2A4A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75569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75569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5486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0" b="1" i="1" spc="-200" kern="0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EDM</a:t>
            </a:r>
            <a:endParaRPr lang="en-US" sz="92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Enterprise Development Methodology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260604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six-phase process for shipping complex software with high confidence — 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packaged as a Claude Code plugin for AI-assisted parallel execution.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937760"/>
            <a:ext cx="3657600" cy="0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507492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• Specify • Audit • Decompose • Build • Verify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6217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1.3.0  •  Scripps MCP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132320" y="62179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darryl.porter@scripps.com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11480"/>
          </a:xfrm>
          <a:prstGeom prst="rect">
            <a:avLst/>
          </a:prstGeom>
          <a:solidFill>
            <a:srgbClr val="0F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11480"/>
            <a:ext cx="12161520" cy="5486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36576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edm-ai-development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309360" y="36576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Development Methodology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64008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cost of rework dwarfs the cost of planning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23444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production failures aren't bugs — they're misaligned requirements.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011680"/>
            <a:ext cx="5120640" cy="4023360"/>
          </a:xfrm>
          <a:prstGeom prst="rect">
            <a:avLst/>
          </a:prstGeom>
          <a:solidFill>
            <a:srgbClr val="0F2A4A"/>
          </a:solidFill>
          <a:ln/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0080" y="2194560"/>
            <a:ext cx="4754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10×</a:t>
            </a:r>
            <a:endParaRPr lang="en-US" sz="11000" dirty="0"/>
          </a:p>
        </p:txBody>
      </p:sp>
      <p:sp>
        <p:nvSpPr>
          <p:cNvPr id="10" name="Text 8"/>
          <p:cNvSpPr/>
          <p:nvPr/>
        </p:nvSpPr>
        <p:spPr>
          <a:xfrm>
            <a:off x="640080" y="384048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cost to fix a misaligned requirement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40080" y="4434840"/>
            <a:ext cx="4754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it's already shipped as code, vs. catching it at the requirements stage. EDM front-loads the catching.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943600" y="2011680"/>
            <a:ext cx="57607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7D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943600" y="2011680"/>
            <a:ext cx="109728" cy="1188720"/>
          </a:xfrm>
          <a:prstGeom prst="rect">
            <a:avLst/>
          </a:prstGeom>
          <a:solidFill>
            <a:srgbClr val="E11D48"/>
          </a:solidFill>
          <a:ln/>
        </p:spPr>
      </p:sp>
      <p:sp>
        <p:nvSpPr>
          <p:cNvPr id="14" name="Text 12"/>
          <p:cNvSpPr/>
          <p:nvPr/>
        </p:nvSpPr>
        <p:spPr>
          <a:xfrm>
            <a:off x="6172200" y="210312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Vague tickets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172200" y="251460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Sonnet-written ACs are 'should work' instead of 'returns 200 with JWT containing sub, org_id, exp.'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943600" y="3383280"/>
            <a:ext cx="57607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7D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943600" y="3383280"/>
            <a:ext cx="109728" cy="1188720"/>
          </a:xfrm>
          <a:prstGeom prst="rect">
            <a:avLst/>
          </a:prstGeom>
          <a:solidFill>
            <a:srgbClr val="E11D48"/>
          </a:solidFill>
          <a:ln/>
        </p:spPr>
      </p:sp>
      <p:sp>
        <p:nvSpPr>
          <p:cNvPr id="18" name="Text 16"/>
          <p:cNvSpPr/>
          <p:nvPr/>
        </p:nvSpPr>
        <p:spPr>
          <a:xfrm>
            <a:off x="6172200" y="347472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Context exhaustion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6172200" y="388620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monolithic implementation pass runs out of context, drops half the work.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943600" y="4754880"/>
            <a:ext cx="57607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7D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943600" y="4754880"/>
            <a:ext cx="109728" cy="1188720"/>
          </a:xfrm>
          <a:prstGeom prst="rect">
            <a:avLst/>
          </a:prstGeom>
          <a:solidFill>
            <a:srgbClr val="E11D48"/>
          </a:solidFill>
          <a:ln/>
        </p:spPr>
      </p:sp>
      <p:sp>
        <p:nvSpPr>
          <p:cNvPr id="22" name="Text 20"/>
          <p:cNvSpPr/>
          <p:nvPr/>
        </p:nvSpPr>
        <p:spPr>
          <a:xfrm>
            <a:off x="6172200" y="484632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Spec drift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6172200" y="525780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Tickets implemented against a stale SRD ship features the team no longer wants.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088136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21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edm-ai-development v1.3.0  •  Scripps MCP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11480"/>
          </a:xfrm>
          <a:prstGeom prst="rect">
            <a:avLst/>
          </a:prstGeom>
          <a:solidFill>
            <a:srgbClr val="0F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11480"/>
            <a:ext cx="12161520" cy="5486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36576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edm-ai-development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309360" y="36576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Development Methodology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64008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EDM?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23444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six-phase process, three human gates, one source of truth — your repo.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011680"/>
            <a:ext cx="365760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7D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31520" y="2194560"/>
            <a:ext cx="1097280" cy="109728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212848"/>
            <a:ext cx="109728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731520" y="352044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Phase-gated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31520" y="4114800"/>
            <a:ext cx="3200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phases, three HITL gates. Each gate is your sign-off. No auto-approval.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361688" y="2011680"/>
            <a:ext cx="365760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7D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36008" y="2194560"/>
            <a:ext cx="1097280" cy="109728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5" name="Text 13"/>
          <p:cNvSpPr/>
          <p:nvPr/>
        </p:nvSpPr>
        <p:spPr>
          <a:xfrm>
            <a:off x="4636008" y="2212848"/>
            <a:ext cx="109728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4636008" y="352044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Parallel by default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4636008" y="4114800"/>
            <a:ext cx="3200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Audits run as parallel agents. Implementation runs as parallel waves, each in its own git worktree.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266176" y="2011680"/>
            <a:ext cx="365760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7D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540496" y="2194560"/>
            <a:ext cx="1097280" cy="1097280"/>
          </a:xfrm>
          <a:prstGeom prst="ellipse">
            <a:avLst/>
          </a:prstGeom>
          <a:solidFill>
            <a:srgbClr val="E11D48"/>
          </a:solidFill>
          <a:ln/>
        </p:spPr>
      </p:sp>
      <p:sp>
        <p:nvSpPr>
          <p:cNvPr id="20" name="Text 18"/>
          <p:cNvSpPr/>
          <p:nvPr/>
        </p:nvSpPr>
        <p:spPr>
          <a:xfrm>
            <a:off x="8540496" y="2212848"/>
            <a:ext cx="109728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8540496" y="352044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Source-controlled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8540496" y="4114800"/>
            <a:ext cx="3200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artifact — planning, SRD, tickets, audits, code-audit, state — committed to SRD/{PREFIX}/.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088136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21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edm-ai-development v1.3.0  •  Scripps MCP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11480"/>
          </a:xfrm>
          <a:prstGeom prst="rect">
            <a:avLst/>
          </a:prstGeom>
          <a:solidFill>
            <a:srgbClr val="0F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11480"/>
            <a:ext cx="12161520" cy="5486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36576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edm-ai-development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309360" y="36576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Development Methodology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64008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Six-Phase Process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23444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writing efforts, three audits, three human gates, one parallel build.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194560"/>
            <a:ext cx="1691640" cy="1463040"/>
          </a:xfrm>
          <a:prstGeom prst="rect">
            <a:avLst/>
          </a:prstGeom>
          <a:solidFill>
            <a:srgbClr val="0F2A4A"/>
          </a:solidFill>
          <a:ln/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2194560"/>
            <a:ext cx="1691640" cy="164592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46888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457200" y="3063240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Planning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148840" y="2926080"/>
            <a:ext cx="256032" cy="0"/>
          </a:xfrm>
          <a:prstGeom prst="line">
            <a:avLst/>
          </a:prstGeom>
          <a:noFill/>
          <a:ln w="25400">
            <a:solidFill>
              <a:srgbClr val="1B3A66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2404872" y="2194560"/>
            <a:ext cx="1691640" cy="1463040"/>
          </a:xfrm>
          <a:prstGeom prst="rect">
            <a:avLst/>
          </a:prstGeom>
          <a:solidFill>
            <a:srgbClr val="0F2A4A"/>
          </a:solidFill>
          <a:ln/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404872" y="2194560"/>
            <a:ext cx="1691640" cy="164592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5" name="Text 13"/>
          <p:cNvSpPr/>
          <p:nvPr/>
        </p:nvSpPr>
        <p:spPr>
          <a:xfrm>
            <a:off x="2404872" y="246888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2404872" y="3063240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SRD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096512" y="2926080"/>
            <a:ext cx="256032" cy="0"/>
          </a:xfrm>
          <a:prstGeom prst="line">
            <a:avLst/>
          </a:prstGeom>
          <a:noFill/>
          <a:ln w="25400">
            <a:solidFill>
              <a:srgbClr val="1B3A66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4352544" y="2194560"/>
            <a:ext cx="1691640" cy="1463040"/>
          </a:xfrm>
          <a:prstGeom prst="rect">
            <a:avLst/>
          </a:prstGeom>
          <a:solidFill>
            <a:srgbClr val="0F2A4A"/>
          </a:solidFill>
          <a:ln/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352544" y="2194560"/>
            <a:ext cx="1691640" cy="16459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0" name="Text 18"/>
          <p:cNvSpPr/>
          <p:nvPr/>
        </p:nvSpPr>
        <p:spPr>
          <a:xfrm>
            <a:off x="4352544" y="246888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4352544" y="3063240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SRD Audit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044184" y="2926080"/>
            <a:ext cx="256032" cy="0"/>
          </a:xfrm>
          <a:prstGeom prst="line">
            <a:avLst/>
          </a:prstGeom>
          <a:noFill/>
          <a:ln w="25400">
            <a:solidFill>
              <a:srgbClr val="1B3A66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6300216" y="2194560"/>
            <a:ext cx="1691640" cy="1463040"/>
          </a:xfrm>
          <a:prstGeom prst="rect">
            <a:avLst/>
          </a:prstGeom>
          <a:solidFill>
            <a:srgbClr val="0F2A4A"/>
          </a:solidFill>
          <a:ln/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300216" y="2194560"/>
            <a:ext cx="1691640" cy="164592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25" name="Text 23"/>
          <p:cNvSpPr/>
          <p:nvPr/>
        </p:nvSpPr>
        <p:spPr>
          <a:xfrm>
            <a:off x="6300216" y="246888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3200" dirty="0"/>
          </a:p>
        </p:txBody>
      </p:sp>
      <p:sp>
        <p:nvSpPr>
          <p:cNvPr id="26" name="Text 24"/>
          <p:cNvSpPr/>
          <p:nvPr/>
        </p:nvSpPr>
        <p:spPr>
          <a:xfrm>
            <a:off x="6300216" y="3063240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Tickets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7991856" y="2926080"/>
            <a:ext cx="256032" cy="0"/>
          </a:xfrm>
          <a:prstGeom prst="line">
            <a:avLst/>
          </a:prstGeom>
          <a:noFill/>
          <a:ln w="25400">
            <a:solidFill>
              <a:srgbClr val="1B3A66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8247888" y="2194560"/>
            <a:ext cx="1691640" cy="1463040"/>
          </a:xfrm>
          <a:prstGeom prst="rect">
            <a:avLst/>
          </a:prstGeom>
          <a:solidFill>
            <a:srgbClr val="0F2A4A"/>
          </a:solidFill>
          <a:ln/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8247888" y="2194560"/>
            <a:ext cx="1691640" cy="16459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0" name="Text 28"/>
          <p:cNvSpPr/>
          <p:nvPr/>
        </p:nvSpPr>
        <p:spPr>
          <a:xfrm>
            <a:off x="8247888" y="246888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3200" dirty="0"/>
          </a:p>
        </p:txBody>
      </p:sp>
      <p:sp>
        <p:nvSpPr>
          <p:cNvPr id="31" name="Text 29"/>
          <p:cNvSpPr/>
          <p:nvPr/>
        </p:nvSpPr>
        <p:spPr>
          <a:xfrm>
            <a:off x="8247888" y="3063240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Ticket Audit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9939528" y="2926080"/>
            <a:ext cx="256032" cy="0"/>
          </a:xfrm>
          <a:prstGeom prst="line">
            <a:avLst/>
          </a:prstGeom>
          <a:noFill/>
          <a:ln w="25400">
            <a:solidFill>
              <a:srgbClr val="1B3A66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10195560" y="2194560"/>
            <a:ext cx="1691640" cy="1463040"/>
          </a:xfrm>
          <a:prstGeom prst="rect">
            <a:avLst/>
          </a:prstGeom>
          <a:solidFill>
            <a:srgbClr val="0F2A4A"/>
          </a:solidFill>
          <a:ln/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10195560" y="2194560"/>
            <a:ext cx="1691640" cy="164592"/>
          </a:xfrm>
          <a:prstGeom prst="rect">
            <a:avLst/>
          </a:prstGeom>
          <a:solidFill>
            <a:srgbClr val="E11D48"/>
          </a:solidFill>
          <a:ln/>
        </p:spPr>
      </p:sp>
      <p:sp>
        <p:nvSpPr>
          <p:cNvPr id="35" name="Text 33"/>
          <p:cNvSpPr/>
          <p:nvPr/>
        </p:nvSpPr>
        <p:spPr>
          <a:xfrm>
            <a:off x="10195560" y="246888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11D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3200" dirty="0"/>
          </a:p>
        </p:txBody>
      </p:sp>
      <p:sp>
        <p:nvSpPr>
          <p:cNvPr id="36" name="Text 34"/>
          <p:cNvSpPr/>
          <p:nvPr/>
        </p:nvSpPr>
        <p:spPr>
          <a:xfrm>
            <a:off x="10195560" y="3063240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Implement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 QC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1773936" y="4069080"/>
            <a:ext cx="1005840" cy="4572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8" name="Text 36"/>
          <p:cNvSpPr/>
          <p:nvPr/>
        </p:nvSpPr>
        <p:spPr>
          <a:xfrm>
            <a:off x="1773936" y="406908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1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2276856" y="3657600"/>
            <a:ext cx="0" cy="411480"/>
          </a:xfrm>
          <a:prstGeom prst="line">
            <a:avLst/>
          </a:prstGeom>
          <a:noFill/>
          <a:ln w="25400">
            <a:solidFill>
              <a:srgbClr val="F59E0B"/>
            </a:solidFill>
            <a:prstDash val="dash"/>
          </a:ln>
        </p:spPr>
      </p:sp>
      <p:sp>
        <p:nvSpPr>
          <p:cNvPr id="40" name="Shape 38"/>
          <p:cNvSpPr/>
          <p:nvPr/>
        </p:nvSpPr>
        <p:spPr>
          <a:xfrm>
            <a:off x="5669280" y="4069080"/>
            <a:ext cx="1005840" cy="4572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1" name="Text 39"/>
          <p:cNvSpPr/>
          <p:nvPr/>
        </p:nvSpPr>
        <p:spPr>
          <a:xfrm>
            <a:off x="5669280" y="406908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2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6172200" y="3657600"/>
            <a:ext cx="0" cy="411480"/>
          </a:xfrm>
          <a:prstGeom prst="line">
            <a:avLst/>
          </a:prstGeom>
          <a:noFill/>
          <a:ln w="25400">
            <a:solidFill>
              <a:srgbClr val="F59E0B"/>
            </a:solidFill>
            <a:prstDash val="dash"/>
          </a:ln>
        </p:spPr>
      </p:sp>
      <p:sp>
        <p:nvSpPr>
          <p:cNvPr id="43" name="Shape 41"/>
          <p:cNvSpPr/>
          <p:nvPr/>
        </p:nvSpPr>
        <p:spPr>
          <a:xfrm>
            <a:off x="9564624" y="4069080"/>
            <a:ext cx="1005840" cy="4572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4" name="Text 42"/>
          <p:cNvSpPr/>
          <p:nvPr/>
        </p:nvSpPr>
        <p:spPr>
          <a:xfrm>
            <a:off x="9564624" y="406908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3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10067544" y="3657600"/>
            <a:ext cx="0" cy="411480"/>
          </a:xfrm>
          <a:prstGeom prst="line">
            <a:avLst/>
          </a:prstGeom>
          <a:noFill/>
          <a:ln w="25400">
            <a:solidFill>
              <a:srgbClr val="F59E0B"/>
            </a:solidFill>
            <a:prstDash val="dash"/>
          </a:ln>
        </p:spPr>
      </p:sp>
      <p:sp>
        <p:nvSpPr>
          <p:cNvPr id="46" name="Shape 44"/>
          <p:cNvSpPr/>
          <p:nvPr/>
        </p:nvSpPr>
        <p:spPr>
          <a:xfrm>
            <a:off x="457200" y="5029200"/>
            <a:ext cx="1124712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7DA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57200" y="5029200"/>
            <a:ext cx="109728" cy="128016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48" name="Text 46"/>
          <p:cNvSpPr/>
          <p:nvPr/>
        </p:nvSpPr>
        <p:spPr>
          <a:xfrm>
            <a:off x="685800" y="5120640"/>
            <a:ext cx="10789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pattern: </a:t>
            </a:r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writing pass is followed by an independent audit pass; every audit is followed by a HITL gate. </a:t>
            </a:r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runs as parallel waves of 6–10 agents, each in its own git worktree, with QC fired automatically after every agent.</a:t>
            </a:r>
            <a:endParaRPr lang="en-US" sz="1400" dirty="0"/>
          </a:p>
        </p:txBody>
      </p:sp>
      <p:sp>
        <p:nvSpPr>
          <p:cNvPr id="49" name="Text 47"/>
          <p:cNvSpPr/>
          <p:nvPr/>
        </p:nvSpPr>
        <p:spPr>
          <a:xfrm>
            <a:off x="1088136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21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edm-ai-development v1.3.0  •  Scripps MCP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11480"/>
          </a:xfrm>
          <a:prstGeom prst="rect">
            <a:avLst/>
          </a:prstGeom>
          <a:solidFill>
            <a:srgbClr val="0F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11480"/>
            <a:ext cx="12161520" cy="5486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36576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edm-ai-development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309360" y="36576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Development Methodology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64008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gates, three sign-offs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23444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plugin refuses to advance until you say so.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011680"/>
            <a:ext cx="112471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7D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2011680"/>
            <a:ext cx="1645920" cy="12344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011680"/>
            <a:ext cx="1645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Gate 1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377440" y="219456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After Phase 1 (Planning)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377440" y="265176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Scope, components affected, constraints, go/no-go.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3429000"/>
            <a:ext cx="112471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7D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3429000"/>
            <a:ext cx="1645920" cy="12344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3429000"/>
            <a:ext cx="1645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Gate 2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2377440" y="361188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After Phase 3 (SRD Audit)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2377440" y="406908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Remediated SRD: requirements, architecture, audit P0/P1 resolved.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57200" y="4846320"/>
            <a:ext cx="112471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7D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4846320"/>
            <a:ext cx="1645920" cy="12344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4846320"/>
            <a:ext cx="1645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Gate 3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2377440" y="502920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After Phase 5 (Ticket Audit)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2377440" y="548640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Implementation-ready ticket pack with full SRD coverage.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57200" y="6263640"/>
            <a:ext cx="11247120" cy="0"/>
          </a:xfrm>
          <a:prstGeom prst="rect">
            <a:avLst/>
          </a:prstGeom>
          <a:noFill/>
          <a:ln w="38100">
            <a:solidFill>
              <a:srgbClr val="14B8A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88136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21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edm-ai-development v1.3.0  •  Scripps MCP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11480"/>
          </a:xfrm>
          <a:prstGeom prst="rect">
            <a:avLst/>
          </a:prstGeom>
          <a:solidFill>
            <a:srgbClr val="0F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11480"/>
            <a:ext cx="12161520" cy="5486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36576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edm-ai-development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309360" y="36576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Development Methodology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64008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Inputs, gate UX, and resumption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23444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input formats, structured gate choices, and a HANDOFF the next person can pick up.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874520"/>
            <a:ext cx="3657600" cy="4526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7D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874520"/>
            <a:ext cx="3657600" cy="50292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187452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input formats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85800" y="2560320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Plain text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85800" y="2852928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/edm:orchestrator Add SAML SSO …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85800" y="3474720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File path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85800" y="3767328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/edm:orchestrator ./brief.md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85800" y="4389120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Jira ticket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85800" y="4681728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/edm:orchestrator ELI-42 — pulled via MCP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85800" y="5303520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Empty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85800" y="5596128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prompts; accepts any of the three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361688" y="1874520"/>
            <a:ext cx="3657600" cy="4526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7D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361688" y="1874520"/>
            <a:ext cx="3657600" cy="5029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1" name="Text 19"/>
          <p:cNvSpPr/>
          <p:nvPr/>
        </p:nvSpPr>
        <p:spPr>
          <a:xfrm>
            <a:off x="4544568" y="187452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Structured gate choices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590288" y="2560320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Approve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90288" y="2852928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off; advance to next phase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90288" y="3474720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Revise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590288" y="3767328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back with your feedback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90288" y="4389120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No-Go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590288" y="4681728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without archiving; revisit later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90288" y="5303520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Gate 1 +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590288" y="5596128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Questions resolved interactively first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8266176" y="1874520"/>
            <a:ext cx="3657600" cy="4526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7D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266176" y="1874520"/>
            <a:ext cx="3657600" cy="502920"/>
          </a:xfrm>
          <a:prstGeom prst="rect">
            <a:avLst/>
          </a:prstGeom>
          <a:solidFill>
            <a:srgbClr val="E11D48"/>
          </a:solidFill>
          <a:ln/>
        </p:spPr>
      </p:sp>
      <p:sp>
        <p:nvSpPr>
          <p:cNvPr id="32" name="Text 30"/>
          <p:cNvSpPr/>
          <p:nvPr/>
        </p:nvSpPr>
        <p:spPr>
          <a:xfrm>
            <a:off x="8449056" y="187452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HANDOFF.md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8494776" y="2560320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Auto-refreshed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8494776" y="2852928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phase-complete, gate-approve, session stop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8494776" y="3474720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Resume-ready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8494776" y="3767328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Phase, gates, next action, artifact checklist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8494776" y="4389120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Notes section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8494776" y="4681728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Free-form, preserved across re-writes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8494776" y="5303520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Cross-user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8494776" y="5596128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/ Start over offered on existing prefix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1088136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21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edm-ai-development v1.3.0  •  Scripps MCP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11480"/>
          </a:xfrm>
          <a:prstGeom prst="rect">
            <a:avLst/>
          </a:prstGeom>
          <a:solidFill>
            <a:srgbClr val="0F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11480"/>
            <a:ext cx="12161520" cy="5486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36576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edm-ai-development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309360" y="36576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Development Methodology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64008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1 — Planning &amp; Discovery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23444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/edm:plan &lt;PREFIX&gt; &lt;description&gt;  →  SRD/{PREFIX}/planning.md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011680"/>
            <a:ext cx="548640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7D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2011680"/>
            <a:ext cx="5486400" cy="457200"/>
          </a:xfrm>
          <a:prstGeom prst="rect">
            <a:avLst/>
          </a:prstGeom>
          <a:solidFill>
            <a:srgbClr val="0F2A4A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01168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the explorer agent does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40080" y="2770632"/>
            <a:ext cx="182880" cy="18288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269748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CLAUDE.md, README, and architecture docs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" y="3364992"/>
            <a:ext cx="182880" cy="18288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329184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every component the change will touch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40080" y="3959352"/>
            <a:ext cx="182880" cy="18288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388620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Identifies constraints — licensing, regulatory, platform, expertise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40080" y="4553712"/>
            <a:ext cx="182880" cy="18288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448056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Estimates initiative size (Small / Medium / Large)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40080" y="5148072"/>
            <a:ext cx="182880" cy="18288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20" name="Text 18"/>
          <p:cNvSpPr/>
          <p:nvPr/>
        </p:nvSpPr>
        <p:spPr>
          <a:xfrm>
            <a:off x="914400" y="507492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Produces a Go / No-Go / Conditional decision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217920" y="2011680"/>
            <a:ext cx="5486400" cy="4206240"/>
          </a:xfrm>
          <a:prstGeom prst="rect">
            <a:avLst/>
          </a:prstGeom>
          <a:solidFill>
            <a:srgbClr val="0F2A4A"/>
          </a:solidFill>
          <a:ln/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400800" y="219456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HITL Gate 1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400800" y="26974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presents: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400800" y="3273552"/>
            <a:ext cx="164592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5" name="Text 23"/>
          <p:cNvSpPr/>
          <p:nvPr/>
        </p:nvSpPr>
        <p:spPr>
          <a:xfrm>
            <a:off x="6675120" y="310896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(1–2 sentences)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400800" y="3730752"/>
            <a:ext cx="164592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7" name="Text 25"/>
          <p:cNvSpPr/>
          <p:nvPr/>
        </p:nvSpPr>
        <p:spPr>
          <a:xfrm>
            <a:off x="6675120" y="356616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 affected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400800" y="4187952"/>
            <a:ext cx="164592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9" name="Text 27"/>
          <p:cNvSpPr/>
          <p:nvPr/>
        </p:nvSpPr>
        <p:spPr>
          <a:xfrm>
            <a:off x="6675120" y="402336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constraints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6400800" y="4645152"/>
            <a:ext cx="164592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1" name="Text 29"/>
          <p:cNvSpPr/>
          <p:nvPr/>
        </p:nvSpPr>
        <p:spPr>
          <a:xfrm>
            <a:off x="6675120" y="448056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initiative size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6400800" y="5102352"/>
            <a:ext cx="164592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3" name="Text 31"/>
          <p:cNvSpPr/>
          <p:nvPr/>
        </p:nvSpPr>
        <p:spPr>
          <a:xfrm>
            <a:off x="6675120" y="493776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/ No-Go recommendation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400800" y="548640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"Do you approve this scope and want to proceed to SRD creation?"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1088136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21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edm-ai-development v1.3.0  •  Scripps MCP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11480"/>
          </a:xfrm>
          <a:prstGeom prst="rect">
            <a:avLst/>
          </a:prstGeom>
          <a:solidFill>
            <a:srgbClr val="0F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11480"/>
            <a:ext cx="12161520" cy="5486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36576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edm-ai-development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309360" y="36576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Development Methodology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64008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2 — SRD Creation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23444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/edm:srd &lt;PREFIX&gt;  →  SRD/{PREFIX}/srd.md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011680"/>
            <a:ext cx="11247120" cy="1280160"/>
          </a:xfrm>
          <a:prstGeom prst="rect">
            <a:avLst/>
          </a:prstGeom>
          <a:solidFill>
            <a:srgbClr val="0F2A4A"/>
          </a:solidFill>
          <a:ln/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0080" y="210312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writers running in parallel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40080" y="26060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edm-srd-writer covers the prose. edm-architect writes Section 5 (Target Architecture) with Mermaid diagrams. Both write to the same file in parallel.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3520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Quality standards (mandatory)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457200" y="4023360"/>
            <a:ext cx="36576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7D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4023360"/>
            <a:ext cx="91440" cy="96012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41148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Unique IDs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080" y="448056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{PREFIX}-NN, sequential and stable.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361688" y="4023360"/>
            <a:ext cx="36576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7D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361688" y="4023360"/>
            <a:ext cx="91440" cy="96012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8" name="Text 16"/>
          <p:cNvSpPr/>
          <p:nvPr/>
        </p:nvSpPr>
        <p:spPr>
          <a:xfrm>
            <a:off x="4544568" y="41148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Testable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544568" y="448056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Pass/fail acceptance criteria. No 'user-friendly'.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266176" y="4023360"/>
            <a:ext cx="36576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7D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266176" y="4023360"/>
            <a:ext cx="91440" cy="96012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22" name="Text 20"/>
          <p:cNvSpPr/>
          <p:nvPr/>
        </p:nvSpPr>
        <p:spPr>
          <a:xfrm>
            <a:off x="8449056" y="41148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Diagrammed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449056" y="448056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context + sequence in Mermaid.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5166360"/>
            <a:ext cx="36576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7D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" y="5166360"/>
            <a:ext cx="91440" cy="96012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52578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Prioritized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40080" y="562356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/ Should / Could — never 'all Must'.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361688" y="5166360"/>
            <a:ext cx="36576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7D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361688" y="5166360"/>
            <a:ext cx="91440" cy="96012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0" name="Text 28"/>
          <p:cNvSpPr/>
          <p:nvPr/>
        </p:nvSpPr>
        <p:spPr>
          <a:xfrm>
            <a:off x="4544568" y="52578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Cross-referenced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4544568" y="562356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file paths, real APIs, pinned versions.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8266176" y="5166360"/>
            <a:ext cx="36576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7D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266176" y="5166360"/>
            <a:ext cx="91440" cy="96012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4" name="Text 32"/>
          <p:cNvSpPr/>
          <p:nvPr/>
        </p:nvSpPr>
        <p:spPr>
          <a:xfrm>
            <a:off x="8449056" y="52578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Specific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8449056" y="562356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'&lt; 200ms p95 at 1000 QPS', not 'fast'.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1088136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21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edm-ai-development v1.3.0  •  Scripps MCP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11480"/>
          </a:xfrm>
          <a:prstGeom prst="rect">
            <a:avLst/>
          </a:prstGeom>
          <a:solidFill>
            <a:srgbClr val="0F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11480"/>
            <a:ext cx="12161520" cy="5486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36576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edm-ai-development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309360" y="36576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Development Methodology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64008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3 — SRD Audit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23444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/edm:audit-srd &lt;PREFIX&gt;  →  SRD/{PREFIX}/audit-srd.md  +  remediated SRD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18288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categories, audited in parallel by 2–3 read-only agents.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286000"/>
            <a:ext cx="27432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7D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94360" y="2450592"/>
            <a:ext cx="457200" cy="457200"/>
          </a:xfrm>
          <a:prstGeom prst="ellipse">
            <a:avLst/>
          </a:prstGeom>
          <a:solidFill>
            <a:srgbClr val="0F2A4A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24505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143000" y="24231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Feature gaps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43000" y="278892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requirements, dead-end flows.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383280" y="2286000"/>
            <a:ext cx="27432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7D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520440" y="2450592"/>
            <a:ext cx="457200" cy="457200"/>
          </a:xfrm>
          <a:prstGeom prst="ellipse">
            <a:avLst/>
          </a:prstGeom>
          <a:solidFill>
            <a:srgbClr val="0F2A4A"/>
          </a:solidFill>
          <a:ln/>
        </p:spPr>
      </p:sp>
      <p:sp>
        <p:nvSpPr>
          <p:cNvPr id="16" name="Text 14"/>
          <p:cNvSpPr/>
          <p:nvPr/>
        </p:nvSpPr>
        <p:spPr>
          <a:xfrm>
            <a:off x="3520440" y="24505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069080" y="24231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Factual mistakes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069080" y="278892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APIs, version mismatches.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309360" y="2286000"/>
            <a:ext cx="27432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7D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46520" y="2450592"/>
            <a:ext cx="457200" cy="457200"/>
          </a:xfrm>
          <a:prstGeom prst="ellipse">
            <a:avLst/>
          </a:prstGeom>
          <a:solidFill>
            <a:srgbClr val="0F2A4A"/>
          </a:solidFill>
          <a:ln/>
        </p:spPr>
      </p:sp>
      <p:sp>
        <p:nvSpPr>
          <p:cNvPr id="21" name="Text 19"/>
          <p:cNvSpPr/>
          <p:nvPr/>
        </p:nvSpPr>
        <p:spPr>
          <a:xfrm>
            <a:off x="6446520" y="24505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995160" y="24231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Diagram errors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995160" y="278892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Mermaid syntax, missing edges.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9235440" y="2286000"/>
            <a:ext cx="27432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7D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372600" y="2450592"/>
            <a:ext cx="457200" cy="457200"/>
          </a:xfrm>
          <a:prstGeom prst="ellipse">
            <a:avLst/>
          </a:prstGeom>
          <a:solidFill>
            <a:srgbClr val="0F2A4A"/>
          </a:solidFill>
          <a:ln/>
        </p:spPr>
      </p:sp>
      <p:sp>
        <p:nvSpPr>
          <p:cNvPr id="26" name="Text 24"/>
          <p:cNvSpPr/>
          <p:nvPr/>
        </p:nvSpPr>
        <p:spPr>
          <a:xfrm>
            <a:off x="9372600" y="24505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9921240" y="24231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Competing requirements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9921240" y="278892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Conflicts with codebase, internal contradictions.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57200" y="3566160"/>
            <a:ext cx="27432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7D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94360" y="3730752"/>
            <a:ext cx="457200" cy="457200"/>
          </a:xfrm>
          <a:prstGeom prst="ellipse">
            <a:avLst/>
          </a:prstGeom>
          <a:solidFill>
            <a:srgbClr val="0F2A4A"/>
          </a:solidFill>
          <a:ln/>
        </p:spPr>
      </p:sp>
      <p:sp>
        <p:nvSpPr>
          <p:cNvPr id="31" name="Text 29"/>
          <p:cNvSpPr/>
          <p:nvPr/>
        </p:nvSpPr>
        <p:spPr>
          <a:xfrm>
            <a:off x="594360" y="37307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143000" y="37033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Reuse opportunities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1143000" y="406908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libraries to leverage.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3383280" y="3566160"/>
            <a:ext cx="27432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7D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520440" y="3730752"/>
            <a:ext cx="457200" cy="457200"/>
          </a:xfrm>
          <a:prstGeom prst="ellipse">
            <a:avLst/>
          </a:prstGeom>
          <a:solidFill>
            <a:srgbClr val="0F2A4A"/>
          </a:solidFill>
          <a:ln/>
        </p:spPr>
      </p:sp>
      <p:sp>
        <p:nvSpPr>
          <p:cNvPr id="36" name="Text 34"/>
          <p:cNvSpPr/>
          <p:nvPr/>
        </p:nvSpPr>
        <p:spPr>
          <a:xfrm>
            <a:off x="3520440" y="37307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4069080" y="37033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Spec quality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4069080" y="406908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Untestable items, missing IDs.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309360" y="3566160"/>
            <a:ext cx="27432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7DA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446520" y="3730752"/>
            <a:ext cx="457200" cy="457200"/>
          </a:xfrm>
          <a:prstGeom prst="ellipse">
            <a:avLst/>
          </a:prstGeom>
          <a:solidFill>
            <a:srgbClr val="0F2A4A"/>
          </a:solidFill>
          <a:ln/>
        </p:spPr>
      </p:sp>
      <p:sp>
        <p:nvSpPr>
          <p:cNvPr id="41" name="Text 39"/>
          <p:cNvSpPr/>
          <p:nvPr/>
        </p:nvSpPr>
        <p:spPr>
          <a:xfrm>
            <a:off x="6446520" y="37307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6995160" y="37033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Additional concerns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6995160" y="406908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WCAG, i18n, licensing, deployment.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457200" y="5120640"/>
            <a:ext cx="11247120" cy="1188720"/>
          </a:xfrm>
          <a:prstGeom prst="rect">
            <a:avLst/>
          </a:prstGeom>
          <a:solidFill>
            <a:srgbClr val="0F2A4A"/>
          </a:solidFill>
          <a:ln/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640080" y="51663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Severity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2286000" y="5349240"/>
            <a:ext cx="502920" cy="777240"/>
          </a:xfrm>
          <a:prstGeom prst="rect">
            <a:avLst/>
          </a:prstGeom>
          <a:solidFill>
            <a:srgbClr val="E11D48"/>
          </a:solidFill>
          <a:ln/>
        </p:spPr>
      </p:sp>
      <p:sp>
        <p:nvSpPr>
          <p:cNvPr id="47" name="Text 45"/>
          <p:cNvSpPr/>
          <p:nvPr/>
        </p:nvSpPr>
        <p:spPr>
          <a:xfrm>
            <a:off x="2286000" y="5349240"/>
            <a:ext cx="502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P0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2926080" y="544068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Blocks implementation, security, legal — fix before Phase 4.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5486400" y="5349240"/>
            <a:ext cx="502920" cy="7772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0" name="Text 48"/>
          <p:cNvSpPr/>
          <p:nvPr/>
        </p:nvSpPr>
        <p:spPr>
          <a:xfrm>
            <a:off x="5486400" y="5349240"/>
            <a:ext cx="502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P1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6126480" y="544068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Significant gap, factual error — fix before Phase 4.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8686800" y="5349240"/>
            <a:ext cx="502920" cy="77724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53" name="Text 51"/>
          <p:cNvSpPr/>
          <p:nvPr/>
        </p:nvSpPr>
        <p:spPr>
          <a:xfrm>
            <a:off x="8686800" y="5349240"/>
            <a:ext cx="502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P2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9326880" y="544068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Polish, edge case — can defer.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1088136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21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edm-ai-development v1.3.0  •  Scripps MCP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11480"/>
          </a:xfrm>
          <a:prstGeom prst="rect">
            <a:avLst/>
          </a:prstGeom>
          <a:solidFill>
            <a:srgbClr val="0F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11480"/>
            <a:ext cx="12161520" cy="5486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36576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edm-ai-development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309360" y="36576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Development Methodology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64008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4 — Ticket Pack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23444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/edm:tickets &lt;PREFIX&gt;  →  SRD/{PREFIX}/tickets/  (README + epics)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18288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Acceptance criteria: from vague to verifiable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57200" y="2331720"/>
            <a:ext cx="53949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7D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2331720"/>
            <a:ext cx="91440" cy="1097280"/>
          </a:xfrm>
          <a:prstGeom prst="rect">
            <a:avLst/>
          </a:prstGeom>
          <a:solidFill>
            <a:srgbClr val="E11D48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242316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94360" y="274320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should work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309360" y="2331720"/>
            <a:ext cx="53949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7D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09360" y="2331720"/>
            <a:ext cx="91440" cy="109728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5" name="Text 13"/>
          <p:cNvSpPr/>
          <p:nvPr/>
        </p:nvSpPr>
        <p:spPr>
          <a:xfrm>
            <a:off x="6446520" y="242316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46520" y="274320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/auth/login with valid creds returns 200 with JWT containing sub, org_id, exp claims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3611880"/>
            <a:ext cx="53949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7D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3611880"/>
            <a:ext cx="91440" cy="1097280"/>
          </a:xfrm>
          <a:prstGeom prst="rect">
            <a:avLst/>
          </a:prstGeom>
          <a:solidFill>
            <a:srgbClr val="E11D48"/>
          </a:solidFill>
          <a:ln/>
        </p:spPr>
      </p:sp>
      <p:sp>
        <p:nvSpPr>
          <p:cNvPr id="19" name="Text 17"/>
          <p:cNvSpPr/>
          <p:nvPr/>
        </p:nvSpPr>
        <p:spPr>
          <a:xfrm>
            <a:off x="594360" y="370332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94360" y="402336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should be acceptable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309360" y="3611880"/>
            <a:ext cx="53949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7D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309360" y="3611880"/>
            <a:ext cx="91440" cy="109728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23" name="Text 21"/>
          <p:cNvSpPr/>
          <p:nvPr/>
        </p:nvSpPr>
        <p:spPr>
          <a:xfrm>
            <a:off x="6446520" y="370332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446520" y="402336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/api/users responds &lt; 200ms p95 under 500 concurrent connections (k6 load test)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57200" y="4892040"/>
            <a:ext cx="53949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7D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" y="4892040"/>
            <a:ext cx="91440" cy="1097280"/>
          </a:xfrm>
          <a:prstGeom prst="rect">
            <a:avLst/>
          </a:prstGeom>
          <a:solidFill>
            <a:srgbClr val="E11D48"/>
          </a:solidFill>
          <a:ln/>
        </p:spPr>
      </p:sp>
      <p:sp>
        <p:nvSpPr>
          <p:cNvPr id="27" name="Text 25"/>
          <p:cNvSpPr/>
          <p:nvPr/>
        </p:nvSpPr>
        <p:spPr>
          <a:xfrm>
            <a:off x="594360" y="498348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94360" y="530352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errors gracefully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309360" y="4892040"/>
            <a:ext cx="53949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7D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309360" y="4892040"/>
            <a:ext cx="91440" cy="109728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1" name="Text 29"/>
          <p:cNvSpPr/>
          <p:nvPr/>
        </p:nvSpPr>
        <p:spPr>
          <a:xfrm>
            <a:off x="6446520" y="498348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446520" y="530352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DB is unreachable, returns 503 with {error: 'service_unavailable', retry_after: 30}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57200" y="6199632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ticket: 6–12 testable AC, explicit dependencies, target component paths, out-of-scope notes. No XL tickets — decompose them.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1088136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21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edm-ai-development v1.3.0  •  Scripps MCP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11480"/>
          </a:xfrm>
          <a:prstGeom prst="rect">
            <a:avLst/>
          </a:prstGeom>
          <a:solidFill>
            <a:srgbClr val="0F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11480"/>
            <a:ext cx="12161520" cy="5486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36576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edm-ai-development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309360" y="36576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Development Methodology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64008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5 — Ticket Pack Audit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23444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Eight dimensions, including drift detection against the current SRD.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011680"/>
            <a:ext cx="566928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7D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011680"/>
            <a:ext cx="548640" cy="822960"/>
          </a:xfrm>
          <a:prstGeom prst="rect">
            <a:avLst/>
          </a:prstGeom>
          <a:solidFill>
            <a:srgbClr val="0F2A4A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011680"/>
            <a:ext cx="548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143000" y="201168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— every requirement → ≥1 ticket; no orphans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309360" y="2011680"/>
            <a:ext cx="566928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7D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309360" y="2011680"/>
            <a:ext cx="548640" cy="822960"/>
          </a:xfrm>
          <a:prstGeom prst="rect">
            <a:avLst/>
          </a:prstGeom>
          <a:solidFill>
            <a:srgbClr val="0F2A4A"/>
          </a:solidFill>
          <a:ln/>
        </p:spPr>
      </p:sp>
      <p:sp>
        <p:nvSpPr>
          <p:cNvPr id="14" name="Text 12"/>
          <p:cNvSpPr/>
          <p:nvPr/>
        </p:nvSpPr>
        <p:spPr>
          <a:xfrm>
            <a:off x="6309360" y="2011680"/>
            <a:ext cx="548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995160" y="201168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Sizing — realistic given AC; XL tickets decomposed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2971800"/>
            <a:ext cx="566928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7D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2971800"/>
            <a:ext cx="548640" cy="822960"/>
          </a:xfrm>
          <a:prstGeom prst="rect">
            <a:avLst/>
          </a:prstGeom>
          <a:solidFill>
            <a:srgbClr val="0F2A4A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2971800"/>
            <a:ext cx="548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143000" y="297180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Dependencies — declared, no cycles, ordering matches phases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309360" y="2971800"/>
            <a:ext cx="566928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7D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309360" y="2971800"/>
            <a:ext cx="548640" cy="822960"/>
          </a:xfrm>
          <a:prstGeom prst="rect">
            <a:avLst/>
          </a:prstGeom>
          <a:solidFill>
            <a:srgbClr val="0F2A4A"/>
          </a:solidFill>
          <a:ln/>
        </p:spPr>
      </p:sp>
      <p:sp>
        <p:nvSpPr>
          <p:cNvPr id="22" name="Text 20"/>
          <p:cNvSpPr/>
          <p:nvPr/>
        </p:nvSpPr>
        <p:spPr>
          <a:xfrm>
            <a:off x="6309360" y="2971800"/>
            <a:ext cx="548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6995160" y="297180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path — Mermaid valid, every node colored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57200" y="3931920"/>
            <a:ext cx="566928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7D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" y="3931920"/>
            <a:ext cx="548640" cy="822960"/>
          </a:xfrm>
          <a:prstGeom prst="rect">
            <a:avLst/>
          </a:prstGeom>
          <a:solidFill>
            <a:srgbClr val="0F2A4A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3931920"/>
            <a:ext cx="548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1143000" y="393192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 quality — specific, testable, 6–12 per ticket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309360" y="3931920"/>
            <a:ext cx="566928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7D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309360" y="3931920"/>
            <a:ext cx="548640" cy="822960"/>
          </a:xfrm>
          <a:prstGeom prst="rect">
            <a:avLst/>
          </a:prstGeom>
          <a:solidFill>
            <a:srgbClr val="0F2A4A"/>
          </a:solidFill>
          <a:ln/>
        </p:spPr>
      </p:sp>
      <p:sp>
        <p:nvSpPr>
          <p:cNvPr id="30" name="Text 28"/>
          <p:cNvSpPr/>
          <p:nvPr/>
        </p:nvSpPr>
        <p:spPr>
          <a:xfrm>
            <a:off x="6309360" y="3931920"/>
            <a:ext cx="548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6995160" y="393192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 correctness — no orphan nodes, no syntax errors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457200" y="4892040"/>
            <a:ext cx="566928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7D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57200" y="4892040"/>
            <a:ext cx="548640" cy="822960"/>
          </a:xfrm>
          <a:prstGeom prst="rect">
            <a:avLst/>
          </a:prstGeom>
          <a:solidFill>
            <a:srgbClr val="0F2A4A"/>
          </a:solidFill>
          <a:ln/>
        </p:spPr>
      </p:sp>
      <p:sp>
        <p:nvSpPr>
          <p:cNvPr id="34" name="Text 32"/>
          <p:cNvSpPr/>
          <p:nvPr/>
        </p:nvSpPr>
        <p:spPr>
          <a:xfrm>
            <a:off x="457200" y="4892040"/>
            <a:ext cx="548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1143000" y="489204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Consistency — IDs in README match epic files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6309360" y="4892040"/>
            <a:ext cx="566928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7D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309360" y="4892040"/>
            <a:ext cx="548640" cy="822960"/>
          </a:xfrm>
          <a:prstGeom prst="rect">
            <a:avLst/>
          </a:prstGeom>
          <a:solidFill>
            <a:srgbClr val="0F2A4A"/>
          </a:solidFill>
          <a:ln/>
        </p:spPr>
      </p:sp>
      <p:sp>
        <p:nvSpPr>
          <p:cNvPr id="38" name="Text 36"/>
          <p:cNvSpPr/>
          <p:nvPr/>
        </p:nvSpPr>
        <p:spPr>
          <a:xfrm>
            <a:off x="6309360" y="4892040"/>
            <a:ext cx="548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2200" dirty="0"/>
          </a:p>
        </p:txBody>
      </p:sp>
      <p:sp>
        <p:nvSpPr>
          <p:cNvPr id="39" name="Text 37"/>
          <p:cNvSpPr/>
          <p:nvPr/>
        </p:nvSpPr>
        <p:spPr>
          <a:xfrm>
            <a:off x="6995160" y="489204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alignment — README header matches current SRD version (P0 if not)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457200" y="5852160"/>
            <a:ext cx="11247120" cy="5029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1" name="Text 39"/>
          <p:cNvSpPr/>
          <p:nvPr/>
        </p:nvSpPr>
        <p:spPr>
          <a:xfrm>
            <a:off x="640080" y="585216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 detection: ticket pack header reads 'Generated From: srd.md vX.Y.Z' — mismatch with state file = P0 finding.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1088136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21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edm-ai-development v1.3.0  •  Scripps MCP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11480"/>
          </a:xfrm>
          <a:prstGeom prst="rect">
            <a:avLst/>
          </a:prstGeom>
          <a:solidFill>
            <a:srgbClr val="0F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11480"/>
            <a:ext cx="12161520" cy="5486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36576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edm-ai-development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309360" y="36576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Development Methodology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64008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6 — Implementation + automatic QC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23444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/edm:implement &lt;PREFIX&gt;  →  parallel waves, each in its own git worktree.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18288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Each wave = 6–10 implementer agents in parallel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2377440"/>
            <a:ext cx="3657600" cy="1371600"/>
          </a:xfrm>
          <a:prstGeom prst="rect">
            <a:avLst/>
          </a:prstGeom>
          <a:solidFill>
            <a:srgbClr val="0F2A4A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5146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Wave 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0080" y="29260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T01 · T02 · T05 · T08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32918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worktree-isolated · parallel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114800" y="3063240"/>
            <a:ext cx="246888" cy="0"/>
          </a:xfrm>
          <a:prstGeom prst="line">
            <a:avLst/>
          </a:prstGeom>
          <a:noFill/>
          <a:ln w="25400">
            <a:solidFill>
              <a:srgbClr val="0F2A4A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4361688" y="2377440"/>
            <a:ext cx="3657600" cy="1371600"/>
          </a:xfrm>
          <a:prstGeom prst="rect">
            <a:avLst/>
          </a:prstGeom>
          <a:solidFill>
            <a:srgbClr val="0F2A4A"/>
          </a:solidFill>
          <a:ln/>
        </p:spPr>
      </p:sp>
      <p:sp>
        <p:nvSpPr>
          <p:cNvPr id="15" name="Text 13"/>
          <p:cNvSpPr/>
          <p:nvPr/>
        </p:nvSpPr>
        <p:spPr>
          <a:xfrm>
            <a:off x="4544568" y="25146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Wave 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544568" y="29260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T03 · T04 · T06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44568" y="32918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worktree-isolated · parallel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019288" y="3063240"/>
            <a:ext cx="246888" cy="0"/>
          </a:xfrm>
          <a:prstGeom prst="line">
            <a:avLst/>
          </a:prstGeom>
          <a:noFill/>
          <a:ln w="25400">
            <a:solidFill>
              <a:srgbClr val="0F2A4A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8266176" y="2377440"/>
            <a:ext cx="3657600" cy="1371600"/>
          </a:xfrm>
          <a:prstGeom prst="rect">
            <a:avLst/>
          </a:prstGeom>
          <a:solidFill>
            <a:srgbClr val="0F2A4A"/>
          </a:solidFill>
          <a:ln/>
        </p:spPr>
      </p:sp>
      <p:sp>
        <p:nvSpPr>
          <p:cNvPr id="20" name="Text 18"/>
          <p:cNvSpPr/>
          <p:nvPr/>
        </p:nvSpPr>
        <p:spPr>
          <a:xfrm>
            <a:off x="8449056" y="25146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Wave 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449056" y="29260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T07 · T09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449056" y="32918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worktree-isolated · parallel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4023360"/>
            <a:ext cx="11247120" cy="77724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402336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every implementer agent completes → SubagentStop hook auto-spawns edm-qc-auditor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57200" y="4983480"/>
            <a:ext cx="36576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7D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57200" y="4983480"/>
            <a:ext cx="3657600" cy="36576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27" name="Text 25"/>
          <p:cNvSpPr/>
          <p:nvPr/>
        </p:nvSpPr>
        <p:spPr>
          <a:xfrm>
            <a:off x="457200" y="49834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PASS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40080" y="544068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AC satisfied — done.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361688" y="4983480"/>
            <a:ext cx="36576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7D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361688" y="4983480"/>
            <a:ext cx="3657600" cy="3657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1" name="Text 29"/>
          <p:cNvSpPr/>
          <p:nvPr/>
        </p:nvSpPr>
        <p:spPr>
          <a:xfrm>
            <a:off x="4361688" y="49834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PARTIAL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4544568" y="544068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AC unmet — remediate, re-audit.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8266176" y="4983480"/>
            <a:ext cx="36576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7D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8266176" y="4983480"/>
            <a:ext cx="3657600" cy="365760"/>
          </a:xfrm>
          <a:prstGeom prst="rect">
            <a:avLst/>
          </a:prstGeom>
          <a:solidFill>
            <a:srgbClr val="E11D48"/>
          </a:solidFill>
          <a:ln/>
        </p:spPr>
      </p:sp>
      <p:sp>
        <p:nvSpPr>
          <p:cNvPr id="35" name="Text 33"/>
          <p:cNvSpPr/>
          <p:nvPr/>
        </p:nvSpPr>
        <p:spPr>
          <a:xfrm>
            <a:off x="8266176" y="49834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FAIL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8449056" y="544068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AC unmet — fix immediately.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1088136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21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edm-ai-development v1.3.0  •  Scripps MCP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11480"/>
          </a:xfrm>
          <a:prstGeom prst="rect">
            <a:avLst/>
          </a:prstGeom>
          <a:solidFill>
            <a:srgbClr val="0F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11480"/>
            <a:ext cx="12161520" cy="5486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36576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edm-ai-development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309360" y="36576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Development Methodology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64008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11-Lens Code Audit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23444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/edm:code-audit &lt;PREFIX&gt;  →  what a single auditor would miss.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011680"/>
            <a:ext cx="36576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7D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011680"/>
            <a:ext cx="91440" cy="64008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01168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  Logic — correctness, stubs, TODOs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361688" y="2011680"/>
            <a:ext cx="36576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7D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61688" y="2011680"/>
            <a:ext cx="91440" cy="64008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3" name="Text 11"/>
          <p:cNvSpPr/>
          <p:nvPr/>
        </p:nvSpPr>
        <p:spPr>
          <a:xfrm>
            <a:off x="4544568" y="201168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  Dead code — unreachable branches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266176" y="2011680"/>
            <a:ext cx="36576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7D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66176" y="2011680"/>
            <a:ext cx="91440" cy="64008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6" name="Text 14"/>
          <p:cNvSpPr/>
          <p:nvPr/>
        </p:nvSpPr>
        <p:spPr>
          <a:xfrm>
            <a:off x="8449056" y="201168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  Edge cases — concurrency, null/empty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2788920"/>
            <a:ext cx="36576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7D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2788920"/>
            <a:ext cx="91440" cy="64008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278892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L4  Test quality — mock abuse, weak assertions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361688" y="2788920"/>
            <a:ext cx="36576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7D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361688" y="2788920"/>
            <a:ext cx="91440" cy="64008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22" name="Text 20"/>
          <p:cNvSpPr/>
          <p:nvPr/>
        </p:nvSpPr>
        <p:spPr>
          <a:xfrm>
            <a:off x="4544568" y="278892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L5  Runtime hygiene — lock files, .gitignore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266176" y="2788920"/>
            <a:ext cx="36576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7D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266176" y="2788920"/>
            <a:ext cx="91440" cy="64008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25" name="Text 23"/>
          <p:cNvSpPr/>
          <p:nvPr/>
        </p:nvSpPr>
        <p:spPr>
          <a:xfrm>
            <a:off x="8449056" y="278892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L6  Docs accuracy — comments &amp; error msgs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57200" y="3566160"/>
            <a:ext cx="36576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7D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7200" y="3566160"/>
            <a:ext cx="91440" cy="64008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28" name="Text 26"/>
          <p:cNvSpPr/>
          <p:nvPr/>
        </p:nvSpPr>
        <p:spPr>
          <a:xfrm>
            <a:off x="640080" y="356616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L7  Consistency — timeouts, retry, errors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361688" y="3566160"/>
            <a:ext cx="36576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7D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361688" y="3566160"/>
            <a:ext cx="91440" cy="64008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1" name="Text 29"/>
          <p:cNvSpPr/>
          <p:nvPr/>
        </p:nvSpPr>
        <p:spPr>
          <a:xfrm>
            <a:off x="4544568" y="356616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L8  Security — bash, paths, env vars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8266176" y="3566160"/>
            <a:ext cx="36576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7D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266176" y="3566160"/>
            <a:ext cx="91440" cy="64008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4" name="Text 32"/>
          <p:cNvSpPr/>
          <p:nvPr/>
        </p:nvSpPr>
        <p:spPr>
          <a:xfrm>
            <a:off x="8449056" y="356616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L9  Spec compliance — SRD/ticket cross-check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57200" y="4343400"/>
            <a:ext cx="36576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7D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57200" y="4343400"/>
            <a:ext cx="91440" cy="64008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7" name="Text 35"/>
          <p:cNvSpPr/>
          <p:nvPr/>
        </p:nvSpPr>
        <p:spPr>
          <a:xfrm>
            <a:off x="640080" y="434340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L10 DRY — duplicate utilities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4361688" y="4343400"/>
            <a:ext cx="36576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7DA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361688" y="4343400"/>
            <a:ext cx="91440" cy="64008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40" name="Text 38"/>
          <p:cNvSpPr/>
          <p:nvPr/>
        </p:nvSpPr>
        <p:spPr>
          <a:xfrm>
            <a:off x="4544568" y="434340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L11 Wiring — frontend↔API↔backend, dummy data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457200" y="5486400"/>
            <a:ext cx="11247120" cy="914400"/>
          </a:xfrm>
          <a:prstGeom prst="rect">
            <a:avLst/>
          </a:prstGeom>
          <a:solidFill>
            <a:srgbClr val="0F2A4A"/>
          </a:solidFill>
          <a:ln/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640080" y="548640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 edm-audit-synthesizer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4206240" y="548640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Deduplicates findings flagged by multiple lenses, applies the False Alarm Filter, severity-ranks (P1/P2/P3/NOTED), suggests rollout order. Output: REMEDIATION.md.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1088136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21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edm-ai-development v1.3.0  •  Scripps MCP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11480"/>
          </a:xfrm>
          <a:prstGeom prst="rect">
            <a:avLst/>
          </a:prstGeom>
          <a:solidFill>
            <a:srgbClr val="0F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11480"/>
            <a:ext cx="12161520" cy="5486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36576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edm-ai-development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309360" y="36576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Development Methodology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64008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Comprehensive testing layer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23444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/edm:test &lt;PREFIX&gt;  →  9 writers in parallel, then a sequential coverage auditor.</a:t>
            </a:r>
            <a:endParaRPr lang="en-US" sz="14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457200" y="1920240"/>
          <a:ext cx="548640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Text 6"/>
          <p:cNvSpPr/>
          <p:nvPr/>
        </p:nvSpPr>
        <p:spPr>
          <a:xfrm>
            <a:off x="6217920" y="19202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 writers in parallel  →  1 auditor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6217920" y="2368296"/>
            <a:ext cx="109728" cy="10972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1" name="Text 8"/>
          <p:cNvSpPr/>
          <p:nvPr/>
        </p:nvSpPr>
        <p:spPr>
          <a:xfrm>
            <a:off x="6400800" y="2286000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edm-test-planner — stack detection, AC↔layer mapping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6217920" y="2660904"/>
            <a:ext cx="109728" cy="10972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3" name="Text 10"/>
          <p:cNvSpPr/>
          <p:nvPr/>
        </p:nvSpPr>
        <p:spPr>
          <a:xfrm>
            <a:off x="6400800" y="2578608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edm-test-scaffold — install missing infra (asks first)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6217920" y="2953512"/>
            <a:ext cx="109728" cy="10972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5" name="Text 12"/>
          <p:cNvSpPr/>
          <p:nvPr/>
        </p:nvSpPr>
        <p:spPr>
          <a:xfrm>
            <a:off x="6400800" y="2871216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edm-test-unit — pure-function tests, mocked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6217920" y="3246120"/>
            <a:ext cx="109728" cy="10972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7" name="Text 14"/>
          <p:cNvSpPr/>
          <p:nvPr/>
        </p:nvSpPr>
        <p:spPr>
          <a:xfrm>
            <a:off x="6400800" y="3163824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edm-test-component — UI components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6217920" y="3538728"/>
            <a:ext cx="109728" cy="10972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9" name="Text 16"/>
          <p:cNvSpPr/>
          <p:nvPr/>
        </p:nvSpPr>
        <p:spPr>
          <a:xfrm>
            <a:off x="6400800" y="3456432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edm-test-composable — React hooks / Vue composables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6217920" y="3831336"/>
            <a:ext cx="109728" cy="10972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1" name="Text 18"/>
          <p:cNvSpPr/>
          <p:nvPr/>
        </p:nvSpPr>
        <p:spPr>
          <a:xfrm>
            <a:off x="6400800" y="3749040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edm-test-integration — multi-module, real DB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6217920" y="4123944"/>
            <a:ext cx="109728" cy="10972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3" name="Text 20"/>
          <p:cNvSpPr/>
          <p:nvPr/>
        </p:nvSpPr>
        <p:spPr>
          <a:xfrm>
            <a:off x="6400800" y="4041648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edm-test-contract — OpenAPI / GraphQL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6217920" y="4416552"/>
            <a:ext cx="109728" cy="10972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5" name="Text 22"/>
          <p:cNvSpPr/>
          <p:nvPr/>
        </p:nvSpPr>
        <p:spPr>
          <a:xfrm>
            <a:off x="6400800" y="4334256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edm-test-e2e — Playwright / Cypress journeys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6217920" y="4709160"/>
            <a:ext cx="109728" cy="10972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7" name="Text 24"/>
          <p:cNvSpPr/>
          <p:nvPr/>
        </p:nvSpPr>
        <p:spPr>
          <a:xfrm>
            <a:off x="6400800" y="4626864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edm-test-a11y — axe-core + keyboard, WCAG 2.1 AA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6217920" y="5074920"/>
            <a:ext cx="5532120" cy="0"/>
          </a:xfrm>
          <a:prstGeom prst="line">
            <a:avLst/>
          </a:prstGeom>
          <a:noFill/>
          <a:ln w="12700">
            <a:solidFill>
              <a:srgbClr val="1B3A66"/>
            </a:solidFill>
            <a:prstDash val="dash"/>
          </a:ln>
        </p:spPr>
      </p:sp>
      <p:sp>
        <p:nvSpPr>
          <p:cNvPr id="29" name="Text 26"/>
          <p:cNvSpPr/>
          <p:nvPr/>
        </p:nvSpPr>
        <p:spPr>
          <a:xfrm>
            <a:off x="6217920" y="5120640"/>
            <a:ext cx="5532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— strictly after all writers finish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6217920" y="5440680"/>
            <a:ext cx="5532120" cy="457200"/>
          </a:xfrm>
          <a:prstGeom prst="rect">
            <a:avLst/>
          </a:prstGeom>
          <a:solidFill>
            <a:srgbClr val="0F2A4A"/>
          </a:solidFill>
          <a:ln/>
        </p:spPr>
      </p:sp>
      <p:sp>
        <p:nvSpPr>
          <p:cNvPr id="31" name="Shape 28"/>
          <p:cNvSpPr/>
          <p:nvPr/>
        </p:nvSpPr>
        <p:spPr>
          <a:xfrm>
            <a:off x="6217920" y="5440680"/>
            <a:ext cx="109728" cy="45720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2" name="Text 29"/>
          <p:cNvSpPr/>
          <p:nvPr/>
        </p:nvSpPr>
        <p:spPr>
          <a:xfrm>
            <a:off x="6400800" y="544068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edm-test-coverage-auditor — gaps + AC cross-ref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10424160" y="544068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</a:t>
            </a:r>
            <a:endParaRPr lang="en-US" sz="900" dirty="0"/>
          </a:p>
        </p:txBody>
      </p:sp>
      <p:sp>
        <p:nvSpPr>
          <p:cNvPr id="34" name="Shape 31"/>
          <p:cNvSpPr/>
          <p:nvPr/>
        </p:nvSpPr>
        <p:spPr>
          <a:xfrm>
            <a:off x="6217920" y="5989320"/>
            <a:ext cx="5532120" cy="3657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5" name="Text 32"/>
          <p:cNvSpPr/>
          <p:nvPr/>
        </p:nvSpPr>
        <p:spPr>
          <a:xfrm>
            <a:off x="6309360" y="598932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--fill-gaps now closes P0, P1 &amp; P2 findings — no gaps left behind.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1088136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21</a:t>
            </a:r>
            <a:endParaRPr lang="en-US" sz="900" dirty="0"/>
          </a:p>
        </p:txBody>
      </p:sp>
      <p:sp>
        <p:nvSpPr>
          <p:cNvPr id="37" name="Text 34"/>
          <p:cNvSpPr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edm-ai-development v1.3.0  •  Scripps MCP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11480"/>
          </a:xfrm>
          <a:prstGeom prst="rect">
            <a:avLst/>
          </a:prstGeom>
          <a:solidFill>
            <a:srgbClr val="0F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11480"/>
            <a:ext cx="12161520" cy="5486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36576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edm-ai-development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309360" y="36576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Development Methodology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64008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Everything lives in your repo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23444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SRD/{PREFIX}/ — committed to git, reviewed in PRs, in-flight state visible to teammates.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920240"/>
            <a:ext cx="6766560" cy="4480560"/>
          </a:xfrm>
          <a:prstGeom prst="rect">
            <a:avLst/>
          </a:prstGeom>
          <a:solidFill>
            <a:srgbClr val="081A2E"/>
          </a:solidFill>
          <a:ln/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0080" y="2057400"/>
            <a:ext cx="64008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SRD/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AUTH/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├── planning.md               ← Phase 1 (Open Q's, Decisions)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├── srd.md                    ← Phase 2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├── audit-srd.md              ← Phase 3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├── tickets/                  ← Phase 4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│   ├── README.md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│   ├── audit.md              ← Phase 5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│   └── epics/01-*.md, 02-*.md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├── test-plan.md              ← /edm:test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├── test-coverage.md          ← /edm:test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├── code-audit/2026-05-01/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│   ├── lens-L1.md … L11.md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│   └── REMEDIATION.md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├── HANDOFF.md                ← cross-user resume doc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└── .edm-state.json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498080" y="192024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source-control IS the system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7498080" y="2468880"/>
            <a:ext cx="420624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7D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498080" y="2468880"/>
            <a:ext cx="73152" cy="59436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3" name="Text 11"/>
          <p:cNvSpPr/>
          <p:nvPr/>
        </p:nvSpPr>
        <p:spPr>
          <a:xfrm>
            <a:off x="7635240" y="2468880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Teammates review the SRD in a PR before any code is written.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498080" y="3145536"/>
            <a:ext cx="420624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7D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498080" y="3145536"/>
            <a:ext cx="73152" cy="59436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6" name="Text 14"/>
          <p:cNvSpPr/>
          <p:nvPr/>
        </p:nvSpPr>
        <p:spPr>
          <a:xfrm>
            <a:off x="7635240" y="3145536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findings are inspectable in commit history.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7498080" y="3822192"/>
            <a:ext cx="420624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7D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498080" y="3822192"/>
            <a:ext cx="73152" cy="59436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9" name="Text 17"/>
          <p:cNvSpPr/>
          <p:nvPr/>
        </p:nvSpPr>
        <p:spPr>
          <a:xfrm>
            <a:off x="7635240" y="3822192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approvals and phase timestamps are visible in git.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7498080" y="4498848"/>
            <a:ext cx="420624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7D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498080" y="4498848"/>
            <a:ext cx="73152" cy="59436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22" name="Text 20"/>
          <p:cNvSpPr/>
          <p:nvPr/>
        </p:nvSpPr>
        <p:spPr>
          <a:xfrm>
            <a:off x="7635240" y="4498848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developers see the same in-flight state.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7498080" y="5175504"/>
            <a:ext cx="420624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7D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498080" y="5175504"/>
            <a:ext cx="73152" cy="59436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25" name="Text 23"/>
          <p:cNvSpPr/>
          <p:nvPr/>
        </p:nvSpPr>
        <p:spPr>
          <a:xfrm>
            <a:off x="7635240" y="5175504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Cloning the repo resumes the in-progress initiative.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7498080" y="5897880"/>
            <a:ext cx="4206240" cy="5029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7" name="Text 25"/>
          <p:cNvSpPr/>
          <p:nvPr/>
        </p:nvSpPr>
        <p:spPr>
          <a:xfrm>
            <a:off x="7635240" y="5897880"/>
            <a:ext cx="4069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 detection catches hand-edits made outside EDM (next slide).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088136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21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edm-ai-development v1.3.0  •  Scripps MCP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11480"/>
          </a:xfrm>
          <a:prstGeom prst="rect">
            <a:avLst/>
          </a:prstGeom>
          <a:solidFill>
            <a:srgbClr val="0F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11480"/>
            <a:ext cx="12161520" cy="5486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36576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edm-ai-development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309360" y="36576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Development Methodology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64008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Drift detection, in plain English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23444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Catches hand-edits that bypass the EDM audit/gate flow.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874520"/>
            <a:ext cx="365760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7D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31520" y="2103120"/>
            <a:ext cx="777240" cy="77724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1031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1645920" y="224028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Record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31520" y="2971800"/>
            <a:ext cx="3291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phase finishes (SRD or tickets), the plugin computes a SHA-256 fingerprint of the file and stores it in .edm-state.json.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114800" y="3063240"/>
            <a:ext cx="246888" cy="0"/>
          </a:xfrm>
          <a:prstGeom prst="line">
            <a:avLst/>
          </a:prstGeom>
          <a:noFill/>
          <a:ln w="25400">
            <a:solidFill>
              <a:srgbClr val="1B3A66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4361688" y="1874520"/>
            <a:ext cx="365760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7D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36008" y="2103120"/>
            <a:ext cx="777240" cy="7772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6" name="Text 14"/>
          <p:cNvSpPr/>
          <p:nvPr/>
        </p:nvSpPr>
        <p:spPr>
          <a:xfrm>
            <a:off x="4636008" y="21031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5550408" y="224028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Edit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636008" y="2971800"/>
            <a:ext cx="3291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Someone hand-edits srd.md or tickets/README.md after the gate — adding a requirement, tweaking an AC, etc. — without re-running the audit.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019288" y="3063240"/>
            <a:ext cx="246888" cy="0"/>
          </a:xfrm>
          <a:prstGeom prst="line">
            <a:avLst/>
          </a:prstGeom>
          <a:noFill/>
          <a:ln w="25400">
            <a:solidFill>
              <a:srgbClr val="1B3A66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8266176" y="1874520"/>
            <a:ext cx="365760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7D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540496" y="2103120"/>
            <a:ext cx="777240" cy="777240"/>
          </a:xfrm>
          <a:prstGeom prst="ellipse">
            <a:avLst/>
          </a:prstGeom>
          <a:solidFill>
            <a:srgbClr val="E11D48"/>
          </a:solidFill>
          <a:ln/>
        </p:spPr>
      </p:sp>
      <p:sp>
        <p:nvSpPr>
          <p:cNvPr id="22" name="Text 20"/>
          <p:cNvSpPr/>
          <p:nvPr/>
        </p:nvSpPr>
        <p:spPr>
          <a:xfrm>
            <a:off x="8540496" y="21031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9454896" y="224028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Detect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8540496" y="2971800"/>
            <a:ext cx="3291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you start the next session, the Stop / PreCompact hook re-hashes the files. If the hash changed, you get a warning naming the file and the exact re-run command.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57200" y="443484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Example warning at the next session start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457200" y="4846320"/>
            <a:ext cx="11247120" cy="1280160"/>
          </a:xfrm>
          <a:prstGeom prst="rect">
            <a:avLst/>
          </a:prstGeom>
          <a:solidFill>
            <a:srgbClr val="081A2E"/>
          </a:solidFill>
          <a:ln/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40080" y="4937760"/>
            <a:ext cx="10881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⚠  AUTH/srd.md has drifted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last recorded:  2026-04-29T16:42Z  (Gate 2 approved)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current hash:   3f9c…  (≠ recorded 7a21…)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To re-sync:  /edm:audit-srd AUTH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57200" y="6263640"/>
            <a:ext cx="11247120" cy="3200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9" name="Text 27"/>
          <p:cNvSpPr/>
          <p:nvPr/>
        </p:nvSpPr>
        <p:spPr>
          <a:xfrm>
            <a:off x="640080" y="62636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a hand-edited SRD silently invalidates every downstream ticket, audit, and implementation. Drift detection makes the divergence visible.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088136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21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edm-ai-development v1.3.0  •  Scripps MCP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11480"/>
          </a:xfrm>
          <a:prstGeom prst="rect">
            <a:avLst/>
          </a:prstGeom>
          <a:solidFill>
            <a:srgbClr val="0F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11480"/>
            <a:ext cx="12161520" cy="5486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36576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edm-ai-development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309360" y="36576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Development Methodology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64008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Slash commands at a glance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23444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commands carry disable-model-invocation: true — you invoke them.</a:t>
            </a:r>
            <a:endParaRPr lang="en-US" sz="14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828800"/>
          <a:ext cx="11247120" cy="914400"/>
        </p:xfrm>
        <a:graphic>
          <a:graphicData uri="http://schemas.openxmlformats.org/drawingml/2006/table">
            <a:tbl>
              <a:tblPr/>
              <a:tblGrid>
                <a:gridCol w="4206240"/>
                <a:gridCol w="1463040"/>
                <a:gridCol w="55778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Command</a:t>
                      </a:r>
                      <a:endParaRPr lang="en-US" sz="13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Phase</a:t>
                      </a:r>
                      <a:endParaRPr lang="en-US" sz="13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Purpose</a:t>
                      </a:r>
                      <a:endParaRPr lang="en-US" sz="13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/edm:orchestrator &lt;description&gt;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7D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7D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methodology end-to-end with all HITL gates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7D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/edm:plan &lt;PREFIX&gt; &lt;description&gt;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Planning &amp; Discovery — scope, inventory, go/no-go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/edm:srd &lt;PREFIX&gt;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7D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7D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SRD Creation — testable {PREFIX}-NN requirements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7D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/edm:audit-srd &lt;PREFIX&gt;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SRD Audit — 7 categories, remediates P0/P1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/edm:tickets &lt;PREFIX&gt;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7D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7D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Ticket Pack — {PREFIX}-T{NN}, 6–12 testable AC each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7D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/edm:audit-tickets &lt;PREFIX&gt;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Ticket Audit — 8 dimensions, version alignment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/edm:implement &lt;PREFIX&gt;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7D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7D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Parallel implementation waves + automatic QC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7D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/edm:code-audit &lt;PREFIX&gt;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Post-6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11-lens audit + synthesizer remediation plan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/edm:test &lt;PREFIX&gt;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7D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Post-6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7D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Comprehensive testing across 10 specialist agents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7D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/edm:metrics &lt;PREFIX | --all | --calibrate&gt;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Reporting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Durations, Claude vs human cost, calibration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/edm:push-jira &lt;PREFIX&gt; [PROJECT_KEY]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7D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Optional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7D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Mirror ticket pack to Jira via Atlassian MCP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7DA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1088136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21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edm-ai-development v1.3.0  •  Scripps MCP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11480"/>
          </a:xfrm>
          <a:prstGeom prst="rect">
            <a:avLst/>
          </a:prstGeom>
          <a:solidFill>
            <a:srgbClr val="0F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11480"/>
            <a:ext cx="12161520" cy="5486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36576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edm-ai-development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309360" y="36576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Development Methodology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64008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When to use EDM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23444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EDM has overhead. Use it where the cost of rework would be much higher.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920240"/>
            <a:ext cx="5623560" cy="4480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7D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920240"/>
            <a:ext cx="5623560" cy="54864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1920240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 EDM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0080" y="2651760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New feature touching 10+ files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3063240"/>
            <a:ext cx="5212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six phases — the cost of an SRD pays for itself many times over.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" y="3931920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Large refactor or migration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" y="4343400"/>
            <a:ext cx="5212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Coordination cost is high; an audited plan prevents missed call-sites.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" y="5212080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New service or module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0080" y="5623560"/>
            <a:ext cx="5212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decisions and ticket sequencing benefit from explicit gates.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355080" y="1920240"/>
            <a:ext cx="5623560" cy="4480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7D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355080" y="1920240"/>
            <a:ext cx="5623560" cy="548640"/>
          </a:xfrm>
          <a:prstGeom prst="rect">
            <a:avLst/>
          </a:prstGeom>
          <a:solidFill>
            <a:srgbClr val="E11D48"/>
          </a:solidFill>
          <a:ln/>
        </p:spPr>
      </p:sp>
      <p:sp>
        <p:nvSpPr>
          <p:cNvPr id="19" name="Text 17"/>
          <p:cNvSpPr/>
          <p:nvPr/>
        </p:nvSpPr>
        <p:spPr>
          <a:xfrm>
            <a:off x="6537960" y="1920240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SKIP EDM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537960" y="2651760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Bug fix (1–3 files)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537960" y="3063240"/>
            <a:ext cx="5212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fix it — EDM overhead exceeds the work.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537960" y="3931920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Config / dependency update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537960" y="4343400"/>
            <a:ext cx="5212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Single-step changes don't need ticketing.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537960" y="5212080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Exploratory prototype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537960" y="5623560"/>
            <a:ext cx="5212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phases 1–2 only; skip implementation rigor.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088136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21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edm-ai-development v1.3.0  •  Scripps MCP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11480"/>
          </a:xfrm>
          <a:prstGeom prst="rect">
            <a:avLst/>
          </a:prstGeom>
          <a:solidFill>
            <a:srgbClr val="0F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11480"/>
            <a:ext cx="12161520" cy="5486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36576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edm-ai-development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309360" y="36576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Development Methodology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64008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Quick start in 60 seconds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23444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commands you'll run most.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828800"/>
            <a:ext cx="112471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7D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828800"/>
            <a:ext cx="822960" cy="1188720"/>
          </a:xfrm>
          <a:prstGeom prst="rect">
            <a:avLst/>
          </a:prstGeom>
          <a:solidFill>
            <a:srgbClr val="0F2A4A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828800"/>
            <a:ext cx="822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1508760" y="1901952"/>
            <a:ext cx="10058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Install (no clone needed)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1508760" y="2286000"/>
            <a:ext cx="10058400" cy="365760"/>
          </a:xfrm>
          <a:prstGeom prst="rect">
            <a:avLst/>
          </a:prstGeom>
          <a:solidFill>
            <a:srgbClr val="081A2E"/>
          </a:solidFill>
          <a:ln/>
        </p:spPr>
      </p:sp>
      <p:sp>
        <p:nvSpPr>
          <p:cNvPr id="13" name="Text 11"/>
          <p:cNvSpPr/>
          <p:nvPr/>
        </p:nvSpPr>
        <p:spPr>
          <a:xfrm>
            <a:off x="1645920" y="2286000"/>
            <a:ext cx="9921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/plugin marketplace add https://gitlab.com/scripps/public/marketplace.git    /plugin install stg-marketplace/edm-ai-development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508760" y="2688336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both inside Claude Code. Pin a ref with @main or @v1.3.0 if needed. Accept userConfig defaults.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154680"/>
            <a:ext cx="112471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7D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3154680"/>
            <a:ext cx="822960" cy="1188720"/>
          </a:xfrm>
          <a:prstGeom prst="rect">
            <a:avLst/>
          </a:prstGeom>
          <a:solidFill>
            <a:srgbClr val="0F2A4A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3154680"/>
            <a:ext cx="822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1508760" y="3227832"/>
            <a:ext cx="10058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Run an end-to-end initiative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1508760" y="3611880"/>
            <a:ext cx="10058400" cy="365760"/>
          </a:xfrm>
          <a:prstGeom prst="rect">
            <a:avLst/>
          </a:prstGeom>
          <a:solidFill>
            <a:srgbClr val="081A2E"/>
          </a:solidFill>
          <a:ln/>
        </p:spPr>
      </p:sp>
      <p:sp>
        <p:nvSpPr>
          <p:cNvPr id="20" name="Text 18"/>
          <p:cNvSpPr/>
          <p:nvPr/>
        </p:nvSpPr>
        <p:spPr>
          <a:xfrm>
            <a:off x="1645920" y="3611880"/>
            <a:ext cx="9921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/edm:orchestrator &lt;text&gt;  |  ./brief.md  |  ELI-42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508760" y="4014216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text, file path, or Jira ticket key — all three work as input.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4480560"/>
            <a:ext cx="112471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7D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57200" y="4480560"/>
            <a:ext cx="822960" cy="1188720"/>
          </a:xfrm>
          <a:prstGeom prst="rect">
            <a:avLst/>
          </a:prstGeom>
          <a:solidFill>
            <a:srgbClr val="0F2A4A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4480560"/>
            <a:ext cx="822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1508760" y="4553712"/>
            <a:ext cx="10058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 step through phases manually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1508760" y="4937760"/>
            <a:ext cx="10058400" cy="365760"/>
          </a:xfrm>
          <a:prstGeom prst="rect">
            <a:avLst/>
          </a:prstGeom>
          <a:solidFill>
            <a:srgbClr val="081A2E"/>
          </a:solidFill>
          <a:ln/>
        </p:spPr>
      </p:sp>
      <p:sp>
        <p:nvSpPr>
          <p:cNvPr id="27" name="Text 25"/>
          <p:cNvSpPr/>
          <p:nvPr/>
        </p:nvSpPr>
        <p:spPr>
          <a:xfrm>
            <a:off x="1645920" y="4937760"/>
            <a:ext cx="9921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/edm:plan AUTH …  →  /edm:srd AUTH  →  /edm:audit-srd AUTH  →  /edm:tickets AUTH  →  …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508760" y="5340096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your first time — you'll see exactly what each phase produces.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57200" y="5943600"/>
            <a:ext cx="11247120" cy="36576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0" name="Text 28"/>
          <p:cNvSpPr/>
          <p:nvPr/>
        </p:nvSpPr>
        <p:spPr>
          <a:xfrm>
            <a:off x="640080" y="5943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Then: /edm:test AUTH (coverage)  ·  /edm:code-audit AUTH (11 lenses)  ·  /edm:metrics AUTH (cost &amp; duration)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088136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21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edm-ai-development v1.3.0  •  Scripps MCP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11480"/>
          </a:xfrm>
          <a:prstGeom prst="rect">
            <a:avLst/>
          </a:prstGeom>
          <a:solidFill>
            <a:srgbClr val="0F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11480"/>
            <a:ext cx="12161520" cy="5486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36576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edm-ai-development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309360" y="36576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Development Methodology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64008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Cost tracking, built in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23444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/edm:metrics &lt;PREFIX&gt;  →  Claude API cost vs. human-hour baseline.</a:t>
            </a:r>
            <a:endParaRPr lang="en-US" sz="14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920240"/>
          <a:ext cx="1124712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828800"/>
                <a:gridCol w="1828800"/>
                <a:gridCol w="1828800"/>
                <a:gridCol w="30175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Model</a:t>
                      </a:r>
                      <a:endParaRPr lang="en-US" sz="13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Input</a:t>
                      </a:r>
                      <a:endParaRPr lang="en-US" sz="13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Output</a:t>
                      </a:r>
                      <a:endParaRPr lang="en-US" sz="13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Cache read</a:t>
                      </a:r>
                      <a:endParaRPr lang="en-US" sz="13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Cache write 1h</a:t>
                      </a:r>
                      <a:endParaRPr lang="en-US" sz="13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Opus 4.7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7D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$5.00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7D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$25.00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7D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$0.50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7D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$10.00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7D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Sonnet 4.6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$3.00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$15.00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$0.30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$6.00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Haiku 4.5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7D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$1.00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7D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$5.00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7D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$0.10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7D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$2.00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7DA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457200" y="37033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million tokens, USD — verified May 2026 against docs.anthropic.com/en/docs/about-claude/pricing.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57200" y="4206240"/>
            <a:ext cx="5486400" cy="2011680"/>
          </a:xfrm>
          <a:prstGeom prst="rect">
            <a:avLst/>
          </a:prstGeom>
          <a:solidFill>
            <a:srgbClr val="0F2A4A"/>
          </a:solidFill>
          <a:ln/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40080" y="42976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you get back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640080" y="4709160"/>
            <a:ext cx="5120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phase: duration · tokens · model · Claude $$$ · human-baseline $$$ · savings ratio.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217920" y="4206240"/>
            <a:ext cx="5486400" cy="2011680"/>
          </a:xfrm>
          <a:prstGeom prst="rect">
            <a:avLst/>
          </a:prstGeom>
          <a:solidFill>
            <a:srgbClr val="14B8A6"/>
          </a:solidFill>
          <a:ln/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6400800" y="42976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Calibration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6400800" y="4709160"/>
            <a:ext cx="5120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/edm:metrics --calibrate aggregates median time + cost per (size, phase) across all initiatives, suggests updated Phase Timing Guidelines from your team's actual data.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1088136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21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edm-ai-development v1.3.0  •  Scripps MCP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F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3716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Plan. Audit. Build with confidence.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2468880"/>
            <a:ext cx="10972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EDM ships complex software with high confidence by front-loading scope and audits, then turning Claude loose with parallel waves and automatic QC.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40080" y="4023360"/>
            <a:ext cx="3657600" cy="0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42062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Resources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777240" y="4672584"/>
            <a:ext cx="118872" cy="118872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457200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Plugin home — gitlab.com/scripps/public/marketplace → plugins/edm-ai-development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77240" y="4965192"/>
            <a:ext cx="118872" cy="118872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486460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guide — EDM_Plugin_User_Guide.docx (in the same folder)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77240" y="5257800"/>
            <a:ext cx="118872" cy="118872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12" name="Text 10"/>
          <p:cNvSpPr/>
          <p:nvPr/>
        </p:nvSpPr>
        <p:spPr>
          <a:xfrm>
            <a:off x="1005840" y="5157216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 — marketplace/plugins/edm-ai-development/README.md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" y="5550408"/>
            <a:ext cx="118872" cy="118872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14" name="Text 12"/>
          <p:cNvSpPr/>
          <p:nvPr/>
        </p:nvSpPr>
        <p:spPr>
          <a:xfrm>
            <a:off x="1005840" y="5449824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Contributor guide — marketplace/plugins/edm-ai-development/CLAUDE.md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77240" y="5843016"/>
            <a:ext cx="118872" cy="118872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16" name="Text 14"/>
          <p:cNvSpPr/>
          <p:nvPr/>
        </p:nvSpPr>
        <p:spPr>
          <a:xfrm>
            <a:off x="1005840" y="574243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plugin docs — code.claude.com/docs/en/plugins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40080" y="6263640"/>
            <a:ext cx="3657600" cy="0"/>
          </a:xfrm>
          <a:prstGeom prst="line">
            <a:avLst/>
          </a:prstGeom>
          <a:noFill/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  →  darryl.porter@scripps.com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edm-ai-development — Enterprise Development Methodology</dc:title>
  <dc:subject>PptxGenJS Presentation</dc:subject>
  <dc:creator>Scripps MCP</dc:creator>
  <cp:lastModifiedBy>Scripps MCP</cp:lastModifiedBy>
  <cp:revision>1</cp:revision>
  <dcterms:created xsi:type="dcterms:W3CDTF">2026-05-04T16:52:57Z</dcterms:created>
  <dcterms:modified xsi:type="dcterms:W3CDTF">2026-05-04T16:52:57Z</dcterms:modified>
</cp:coreProperties>
</file>